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UNO" id="{9bbc9130-813c-e902-cc28-d6f8a0d8ccc4}">
          <p14:sldIdLst>
            <p14:sldId id="256"/>
            <p14:sldId id="257"/>
          </p14:sldIdLst>
        </p14:section>
        <p14:section name="Effective AI use and technical strength" id="{2e4f4943-8b81-44ff-c715-625264acdac4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User inputs and testing" id="{763a3b88-d8ca-a66d-dffe-f732376d0eb9}">
          <p14:sldIdLst>
            <p14:sldId id="265"/>
            <p14:sldId id="266"/>
            <p14:sldId id="267"/>
          </p14:sldIdLst>
        </p14:section>
        <p14:section name="Future roadmap" id="{b07612fb-b3e4-38a0-15bd-bb5eec7f3dfc}">
          <p14:sldIdLst>
            <p14:sldId id="268"/>
            <p14:sldId id="269"/>
            <p14:sldId id="270"/>
          </p14:sldIdLst>
        </p14:section>
        <p14:section name="Try it" id="{85c87f70-1fcf-380a-c815-f503dd36cc8f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18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21833"/>
                </a:solidFill>
                <a:latin typeface="+mn-lt"/>
              </a:rPr>
              <a:t>Speech-to-text word error rate, by setting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Word error rate</c:v>
                </c:pt>
              </c:strCache>
            </c:strRef>
          </c:tx>
          <c:spPr>
            <a:solidFill>
              <a:srgbClr val="FFB02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218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Quiet room</c:v>
                  </c:pt>
                  <c:pt idx="1">
                    <c:v>Classroom noise</c:v>
                  </c:pt>
                  <c:pt idx="2">
                    <c:v>Under a fan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14.9</c:v>
                </c:pt>
                <c:pt idx="1">
                  <c:v>15.3</c:v>
                </c:pt>
                <c:pt idx="2">
                  <c:v>21.6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218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28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1"/>
        <c:axPos val="l"/>
        <c:majorGridlines>
          <c:spPr>
            <a:ln w="6350" cap="flat">
              <a:solidFill>
                <a:srgbClr val="E6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18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21833"/>
                </a:solidFill>
                <a:latin typeface="+mn-lt"/>
              </a:rPr>
              <a:t>Children who need support in Hindi reading, found by week 8 (ASER 2024 classes)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Perfect diary of what she notices</c:v>
                </c:pt>
              </c:strCache>
            </c:strRef>
          </c:tx>
          <c:spPr>
            <a:solidFill>
              <a:srgbClr val="B7BCD3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218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India</c:v>
                  </c:pt>
                  <c:pt idx="1">
                    <c:v>Uttar Pradesh</c:v>
                  </c:pt>
                  <c:pt idx="2">
                    <c:v>Bihar</c:v>
                  </c:pt>
                  <c:pt idx="3">
                    <c:v>Madhya Pradesh</c:v>
                  </c:pt>
                  <c:pt idx="4">
                    <c:v>Rajasthan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33</c:v>
                </c:pt>
                <c:pt idx="1">
                  <c:v>31</c:v>
                </c:pt>
                <c:pt idx="2">
                  <c:v>35</c:v>
                </c:pt>
                <c:pt idx="3">
                  <c:v>35</c:v>
                </c:pt>
                <c:pt idx="4">
                  <c:v>37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SUNO, list followed 80%</c:v>
                </c:pt>
              </c:strCache>
            </c:strRef>
          </c:tx>
          <c:spPr>
            <a:solidFill>
              <a:srgbClr val="FFB020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218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India</c:v>
                  </c:pt>
                  <c:pt idx="1">
                    <c:v>Uttar Pradesh</c:v>
                  </c:pt>
                  <c:pt idx="2">
                    <c:v>Bihar</c:v>
                  </c:pt>
                  <c:pt idx="3">
                    <c:v>Madhya Pradesh</c:v>
                  </c:pt>
                  <c:pt idx="4">
                    <c:v>Rajasthan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55</c:v>
                </c:pt>
                <c:pt idx="1">
                  <c:v>53</c:v>
                </c:pt>
                <c:pt idx="2">
                  <c:v>53</c:v>
                </c:pt>
                <c:pt idx="3">
                  <c:v>51</c:v>
                </c:pt>
                <c:pt idx="4">
                  <c:v>59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218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28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1"/>
        <c:axPos val="l"/>
        <c:majorGridlines>
          <c:spPr>
            <a:ln w="6350" cap="flat">
              <a:solidFill>
                <a:srgbClr val="E6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A315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SUNO is for Grade 1-3 government-school teachers. No test, no child's voice recorded, about a minute of teacher time a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ASER 2024 (Pratham). The loop: note -&gt; checks -&gt;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Claude calls per day per class (note, brief) plus vision only at setup (register, textbook). Prompts in prompts/, schemas in schemas/, one module per stage in server/pipeline/.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Cost per teacher-day: Rs 17.61 (eval/results/cost.md). Claude reading the note $0.034, brief $0.121.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Adversarial tests in tests/ cover the hard cases: shared names, labels, names not on the roster, opinions, erased misreadings (speech-to-text 'correcting' a child's mistake).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numbers from eval/real_notes/score.py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assumptions in the ASER run: ASER's word level is split in two; the table covers government and private schools.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Evaluators will test offline: turn off the network, record a note, turn it back on; the queued note sends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Complements assessment apps (PadhAI, TARA, Vaachan Samiksha, NIPUN Lakshya): an assessment result seeds the ladder; SUNO's daily evidence guides teaching between assessments.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21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65836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21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19456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520440"/>
            <a:ext cx="8686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CFEE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83"/>
                </a:solidFill>
              </a:rPr>
              <a:t>SUNO · Team Sunvai · AI for Foundational Learning Hackathon, Challenge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jp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assroom illustration" descr="Illustration: a Grade 2 classroom, children on floor mats, the teacher at the 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685800"/>
            <a:ext cx="5486400" cy="548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6400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B020"/>
                </a:solidFill>
              </a:rPr>
              <a:t>AI FOR FOUNDATIONAL LEARNING HACKATHON · CHALLENGE 2: LEARNING-LEVEL VISIBILITY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201168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SUNO </a:t>
            </a:r>
            <a:pPr algn="l" indent="0" marL="0">
              <a:buNone/>
            </a:pPr>
            <a:r>
              <a:rPr lang="en-US" sz="5400" b="1" dirty="0">
                <a:solidFill>
                  <a:srgbClr val="FFB020"/>
                </a:solidFill>
              </a:rPr>
              <a:t>सुनो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2461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SUNO listens to the teacher, not the classroom.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16052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CFEE"/>
                </a:solidFill>
              </a:rPr>
              <a:t>A 60-second voice note after the reading period becomes checked, per-child evidence, and a 2-minute Hindi brief the next morning: who needs support with what, today's activity, and whom to listen to.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623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FEE"/>
                </a:solidFill>
              </a:rPr>
              <a:t>Live: suno-8qoh.onrender.com · code SUNO-DEMO · video: youtu.be/GG3v7lQ212M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CFEE"/>
                </a:solidFill>
              </a:rPr>
              <a:t>Team Sunvai · Tushar (product, engineering) · Saikiran (architecture, risk)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teacher already hears every child. By tomorrow, it's gone</a:t>
            </a:r>
            <a:endParaRPr lang="en-US" sz="3000" dirty="0"/>
          </a:p>
        </p:txBody>
      </p:sp>
      <p:sp>
        <p:nvSpPr>
          <p:cNvPr id="3" name="Problem card"/>
          <p:cNvSpPr/>
          <p:nvPr/>
        </p:nvSpPr>
        <p:spPr>
          <a:xfrm>
            <a:off x="548640" y="1280160"/>
            <a:ext cx="3108960" cy="4846320"/>
          </a:xfrm>
          <a:prstGeom prst="roundRect">
            <a:avLst>
              <a:gd name="adj" fmla="val 3529"/>
            </a:avLst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B020"/>
                </a:solidFill>
              </a:rPr>
              <a:t>76.6%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060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of Class 3 children in government schools can't read a Class 2 text (ASER 2024).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2606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CFEE"/>
                </a:solidFill>
              </a:rPr>
              <a:t>35 children, one teacher, two exams a year: help comes too late.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CFEE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CFEE"/>
                </a:solidFill>
              </a:rPr>
              <a:t>Assessment apps add a test event, one child at a time. SUNO adds no test: it keeps what she already notices.</a:t>
            </a:r>
            <a:endParaRPr lang="en-US" sz="1400" dirty="0"/>
          </a:p>
        </p:txBody>
      </p:sp>
      <p:sp>
        <p:nvSpPr>
          <p:cNvPr id="7" name="Step 1"/>
          <p:cNvSpPr/>
          <p:nvPr/>
        </p:nvSpPr>
        <p:spPr>
          <a:xfrm>
            <a:off x="3931920" y="1280160"/>
            <a:ext cx="2423160" cy="4846320"/>
          </a:xfrm>
          <a:prstGeom prst="roundRect">
            <a:avLst>
              <a:gd name="adj" fmla="val 4528"/>
            </a:avLst>
          </a:prstGeom>
          <a:solidFill>
            <a:srgbClr val="F3F4F9"/>
          </a:solidFill>
          <a:ln w="12700">
            <a:solidFill>
              <a:srgbClr val="F3F4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60520" y="1481328"/>
            <a:ext cx="457200" cy="45720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0248" y="1591056"/>
            <a:ext cx="237744" cy="23774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160520" y="20574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rgbClr val="121833"/>
                </a:solidFill>
              </a:rPr>
              <a:t>After the reading period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4160520" y="274320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3157"/>
                </a:solidFill>
              </a:rPr>
              <a:t>She speaks a 60-second note in her own words: who read what, who got stuck where, who was absent.</a:t>
            </a:r>
            <a:endParaRPr lang="en-US" sz="1350" dirty="0"/>
          </a:p>
        </p:txBody>
      </p:sp>
      <p:pic>
        <p:nvPicPr>
          <p:cNvPr id="12" name="After the reading period picture" descr="img/staffroom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114800" y="4343400"/>
            <a:ext cx="2057400" cy="1600200"/>
          </a:xfrm>
          <a:prstGeom prst="rect">
            <a:avLst/>
          </a:prstGeom>
        </p:spPr>
      </p:pic>
      <p:sp>
        <p:nvSpPr>
          <p:cNvPr id="13" name="Step 2"/>
          <p:cNvSpPr/>
          <p:nvPr/>
        </p:nvSpPr>
        <p:spPr>
          <a:xfrm>
            <a:off x="6537960" y="1280160"/>
            <a:ext cx="2423160" cy="4846320"/>
          </a:xfrm>
          <a:prstGeom prst="roundRect">
            <a:avLst>
              <a:gd name="adj" fmla="val 4528"/>
            </a:avLst>
          </a:prstGeom>
          <a:solidFill>
            <a:srgbClr val="F3F4F9"/>
          </a:solidFill>
          <a:ln w="12700">
            <a:solidFill>
              <a:srgbClr val="F3F4F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766560" y="1481328"/>
            <a:ext cx="457200" cy="45720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88" y="1591056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766560" y="20574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rgbClr val="121833"/>
                </a:solidFill>
              </a:rPr>
              <a:t>SUNO checks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766560" y="274320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3157"/>
                </a:solidFill>
              </a:rPr>
              <a:t>Claude turns it into per-child observations. Code checks every claim against her words and the roster, and computes confidence.</a:t>
            </a:r>
            <a:endParaRPr lang="en-US" sz="1350" dirty="0"/>
          </a:p>
        </p:txBody>
      </p:sp>
      <p:sp>
        <p:nvSpPr>
          <p:cNvPr id="18" name="What SUNO understood frame"/>
          <p:cNvSpPr/>
          <p:nvPr/>
        </p:nvSpPr>
        <p:spPr>
          <a:xfrm>
            <a:off x="7022592" y="4123944"/>
            <a:ext cx="947330" cy="1858518"/>
          </a:xfrm>
          <a:prstGeom prst="roundRect">
            <a:avLst>
              <a:gd name="adj" fmla="val 21235"/>
            </a:avLst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9" name="What SUNO understood" descr="What SUNO understoo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888" y="4206240"/>
            <a:ext cx="782738" cy="1693926"/>
          </a:xfrm>
          <a:prstGeom prst="rect">
            <a:avLst/>
          </a:prstGeom>
        </p:spPr>
      </p:pic>
      <p:sp>
        <p:nvSpPr>
          <p:cNvPr id="20" name="Step 3"/>
          <p:cNvSpPr/>
          <p:nvPr/>
        </p:nvSpPr>
        <p:spPr>
          <a:xfrm>
            <a:off x="9144000" y="1280160"/>
            <a:ext cx="2423160" cy="4846320"/>
          </a:xfrm>
          <a:prstGeom prst="roundRect">
            <a:avLst>
              <a:gd name="adj" fmla="val 4528"/>
            </a:avLst>
          </a:prstGeom>
          <a:solidFill>
            <a:srgbClr val="F3F4F9"/>
          </a:solidFill>
          <a:ln w="12700">
            <a:solidFill>
              <a:srgbClr val="F3F4F9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9372600" y="1481328"/>
            <a:ext cx="457200" cy="45720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2328" y="1591056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372600" y="20574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rgbClr val="121833"/>
                </a:solidFill>
              </a:rPr>
              <a:t>Next morning</a:t>
            </a:r>
            <a:endParaRPr lang="en-US" sz="1700" dirty="0"/>
          </a:p>
        </p:txBody>
      </p:sp>
      <p:sp>
        <p:nvSpPr>
          <p:cNvPr id="24" name="Text 17"/>
          <p:cNvSpPr txBox="1"/>
          <p:nvPr/>
        </p:nvSpPr>
        <p:spPr>
          <a:xfrm>
            <a:off x="9372600" y="274320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3157"/>
                </a:solidFill>
              </a:rPr>
              <a:t>A 2-minute Hindi brief: who needs support with what, a 10-minute group activity, and five children to listen to.</a:t>
            </a:r>
            <a:endParaRPr lang="en-US" sz="1350" dirty="0"/>
          </a:p>
        </p:txBody>
      </p:sp>
      <p:pic>
        <p:nvPicPr>
          <p:cNvPr id="25" name="Next morning picture" descr="img/morning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326880" y="4343400"/>
            <a:ext cx="2057400" cy="1600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1945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Effective AI use and technical strength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5204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CFEE"/>
                </a:solidFill>
              </a:rPr>
              <a:t>Claude where it is strong: messy, code-mixed speech. Code where it must be exact: who, how sure, and what she hears.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AI in layers: from her voice note to the morning brief</a:t>
            </a:r>
            <a:endParaRPr lang="en-US" sz="3000" dirty="0"/>
          </a:p>
        </p:txBody>
      </p:sp>
      <p:sp>
        <p:nvSpPr>
          <p:cNvPr id="3" name="Data input"/>
          <p:cNvSpPr/>
          <p:nvPr/>
        </p:nvSpPr>
        <p:spPr>
          <a:xfrm>
            <a:off x="548640" y="1234440"/>
            <a:ext cx="2103120" cy="4983480"/>
          </a:xfrm>
          <a:prstGeom prst="roundRect">
            <a:avLst>
              <a:gd name="adj" fmla="val 5217"/>
            </a:avLst>
          </a:prstGeom>
          <a:solidFill>
            <a:srgbClr val="F3F4F9"/>
          </a:solidFill>
          <a:ln w="12700">
            <a:solidFill>
              <a:srgbClr val="F3F4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137160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1833"/>
                </a:solidFill>
              </a:rPr>
              <a:t>Data input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828800"/>
            <a:ext cx="1773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833"/>
                </a:solidFill>
              </a:rPr>
              <a:t>Teacher's voice note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A3157"/>
                </a:solidFill>
              </a:rPr>
              <a:t>60 s, Hindi or Hinglish, her own words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907792"/>
            <a:ext cx="1773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833"/>
                </a:solidFill>
              </a:rPr>
              <a:t>Class roster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A3157"/>
                </a:solidFill>
              </a:rPr>
              <a:t>first names + roll numbers (register photo)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3986784"/>
            <a:ext cx="1773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833"/>
                </a:solidFill>
              </a:rPr>
              <a:t>This week's lesson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A3157"/>
                </a:solidFill>
              </a:rPr>
              <a:t>words and sums (textbook photo)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5065776"/>
            <a:ext cx="1773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833"/>
                </a:solidFill>
              </a:rPr>
              <a:t>Optional starting levels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A3157"/>
                </a:solidFill>
              </a:rPr>
              <a:t>ASER-style check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70048" y="3584448"/>
            <a:ext cx="128016" cy="256032"/>
          </a:xfrm>
          <a:prstGeom prst="chevron">
            <a:avLst/>
          </a:prstGeom>
          <a:solidFill>
            <a:srgbClr val="5A6283"/>
          </a:solidFill>
          <a:ln w="12700">
            <a:solidFill>
              <a:srgbClr val="5A6283"/>
            </a:solidFill>
            <a:prstDash val="solid"/>
          </a:ln>
        </p:spPr>
      </p:sp>
      <p:sp>
        <p:nvSpPr>
          <p:cNvPr id="10" name="Processing"/>
          <p:cNvSpPr/>
          <p:nvPr/>
        </p:nvSpPr>
        <p:spPr>
          <a:xfrm>
            <a:off x="2807208" y="1234440"/>
            <a:ext cx="2103120" cy="4983480"/>
          </a:xfrm>
          <a:prstGeom prst="roundRect">
            <a:avLst>
              <a:gd name="adj" fmla="val 5217"/>
            </a:avLst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71800" y="137160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1833"/>
                </a:solidFill>
              </a:rPr>
              <a:t>Processing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971800" y="1828800"/>
            <a:ext cx="1773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833"/>
                </a:solidFill>
              </a:rPr>
              <a:t>Sarvam saaras:v4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A3157"/>
                </a:solidFill>
              </a:rPr>
              <a:t>speech to text; numbered sentences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971800" y="2907792"/>
            <a:ext cx="1773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833"/>
                </a:solidFill>
              </a:rPr>
              <a:t>Claude ① claude-opus-5-5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A3157"/>
                </a:solidFill>
              </a:rPr>
              <a:t>per-child observations + whole-class remarks; JSON schema; cites sentence IDs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971800" y="3986784"/>
            <a:ext cx="1773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833"/>
                </a:solidFill>
              </a:rPr>
              <a:t>Ladder + planner (code)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A3157"/>
                </a:solidFill>
              </a:rPr>
              <a:t>Bayesian TaRL levels; picks 5 children to listen to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971800" y="5065776"/>
            <a:ext cx="1773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833"/>
                </a:solidFill>
              </a:rPr>
              <a:t>Claude ②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A3157"/>
                </a:solidFill>
              </a:rPr>
              <a:t>words the brief from code's decisions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928616" y="3584448"/>
            <a:ext cx="128016" cy="256032"/>
          </a:xfrm>
          <a:prstGeom prst="chevron">
            <a:avLst/>
          </a:prstGeom>
          <a:solidFill>
            <a:srgbClr val="5A6283"/>
          </a:solidFill>
          <a:ln w="12700">
            <a:solidFill>
              <a:srgbClr val="5A6283"/>
            </a:solidFill>
            <a:prstDash val="solid"/>
          </a:ln>
        </p:spPr>
      </p:sp>
      <p:sp>
        <p:nvSpPr>
          <p:cNvPr id="17" name="Guardrails (code)"/>
          <p:cNvSpPr/>
          <p:nvPr/>
        </p:nvSpPr>
        <p:spPr>
          <a:xfrm>
            <a:off x="5065776" y="1234440"/>
            <a:ext cx="2103120" cy="4983480"/>
          </a:xfrm>
          <a:prstGeom prst="roundRect">
            <a:avLst>
              <a:gd name="adj" fmla="val 5217"/>
            </a:avLst>
          </a:prstGeom>
          <a:solidFill>
            <a:srgbClr val="FDE4EC"/>
          </a:solidFill>
          <a:ln w="12700">
            <a:solidFill>
              <a:srgbClr val="FDE4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30368" y="137160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1833"/>
                </a:solidFill>
              </a:rPr>
              <a:t>Guardrails (code)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230368" y="1828800"/>
            <a:ext cx="1773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833"/>
                </a:solidFill>
              </a:rPr>
              <a:t>Grounding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A3157"/>
                </a:solidFill>
              </a:rPr>
              <a:t>every claim cites her real sentences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230368" y="2907792"/>
            <a:ext cx="1773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833"/>
                </a:solidFill>
              </a:rPr>
              <a:t>Names resolved by code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A3157"/>
                </a:solidFill>
              </a:rPr>
              <a:t>roster, roll numbers; one tap if unsure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230368" y="3986784"/>
            <a:ext cx="1773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833"/>
                </a:solidFill>
              </a:rPr>
              <a:t>Labels masked, opinions held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A3157"/>
                </a:solidFill>
              </a:rPr>
              <a:t>"weak" / कमज़ोर never evidence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230368" y="5065776"/>
            <a:ext cx="1773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833"/>
                </a:solidFill>
              </a:rPr>
              <a:t>Confidence computed in code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A3157"/>
                </a:solidFill>
              </a:rPr>
              <a:t>gate 0.75; else "check tomorrow"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187184" y="3584448"/>
            <a:ext cx="128016" cy="256032"/>
          </a:xfrm>
          <a:prstGeom prst="chevron">
            <a:avLst/>
          </a:prstGeom>
          <a:solidFill>
            <a:srgbClr val="5A6283"/>
          </a:solidFill>
          <a:ln w="12700">
            <a:solidFill>
              <a:srgbClr val="5A6283"/>
            </a:solidFill>
            <a:prstDash val="solid"/>
          </a:ln>
        </p:spPr>
      </p:sp>
      <p:sp>
        <p:nvSpPr>
          <p:cNvPr id="24" name="Evaluation"/>
          <p:cNvSpPr/>
          <p:nvPr/>
        </p:nvSpPr>
        <p:spPr>
          <a:xfrm>
            <a:off x="7324344" y="1234440"/>
            <a:ext cx="2103120" cy="4983480"/>
          </a:xfrm>
          <a:prstGeom prst="roundRect">
            <a:avLst>
              <a:gd name="adj" fmla="val 5217"/>
            </a:avLst>
          </a:prstGeom>
          <a:solidFill>
            <a:srgbClr val="E3F6EC"/>
          </a:solidFill>
          <a:ln w="12700">
            <a:solidFill>
              <a:srgbClr val="E3F6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88936" y="137160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1833"/>
                </a:solidFill>
              </a:rPr>
              <a:t>Evaluation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488936" y="1828800"/>
            <a:ext cx="1773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833"/>
                </a:solidFill>
              </a:rPr>
              <a:t>Real speech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A3157"/>
                </a:solidFill>
              </a:rPr>
              <a:t>15 recordings, 3 settings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488936" y="2907792"/>
            <a:ext cx="1773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833"/>
                </a:solidFill>
              </a:rPr>
              <a:t>Pipeline simulation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A3157"/>
                </a:solidFill>
              </a:rPr>
              <a:t>32 notes, 4 teacher styles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488936" y="3986784"/>
            <a:ext cx="1773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833"/>
                </a:solidFill>
              </a:rPr>
              <a:t>Term simulation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A3157"/>
                </a:solidFill>
              </a:rPr>
              <a:t>200 terms, plus ASER 2024 classes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488936" y="5065776"/>
            <a:ext cx="1773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833"/>
                </a:solidFill>
              </a:rPr>
              <a:t>Unit + adversarial tests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A3157"/>
                </a:solidFill>
              </a:rPr>
              <a:t>97 tests, no keys needed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445752" y="3584448"/>
            <a:ext cx="128016" cy="256032"/>
          </a:xfrm>
          <a:prstGeom prst="chevron">
            <a:avLst/>
          </a:prstGeom>
          <a:solidFill>
            <a:srgbClr val="5A6283"/>
          </a:solidFill>
          <a:ln w="12700">
            <a:solidFill>
              <a:srgbClr val="5A6283"/>
            </a:solidFill>
            <a:prstDash val="solid"/>
          </a:ln>
        </p:spPr>
      </p:sp>
      <p:sp>
        <p:nvSpPr>
          <p:cNvPr id="31" name="Output"/>
          <p:cNvSpPr/>
          <p:nvPr/>
        </p:nvSpPr>
        <p:spPr>
          <a:xfrm>
            <a:off x="9582912" y="1234440"/>
            <a:ext cx="2103120" cy="4983480"/>
          </a:xfrm>
          <a:prstGeom prst="roundRect">
            <a:avLst>
              <a:gd name="adj" fmla="val 5217"/>
            </a:avLst>
          </a:prstGeom>
          <a:solidFill>
            <a:srgbClr val="E6E9FF"/>
          </a:solidFill>
          <a:ln w="12700">
            <a:solidFill>
              <a:srgbClr val="E6E9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747504" y="137160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1833"/>
                </a:solidFill>
              </a:rPr>
              <a:t>Output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747504" y="1828800"/>
            <a:ext cx="1773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833"/>
                </a:solidFill>
              </a:rPr>
              <a:t>Morning brief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A3157"/>
                </a:solidFill>
              </a:rPr>
              <a:t>2-minute Hindi voice (Sarvam bulbul:v3), checked against code; fails closed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747504" y="2907792"/>
            <a:ext cx="1773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833"/>
                </a:solidFill>
              </a:rPr>
              <a:t>Class picture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A3157"/>
                </a:solidFill>
              </a:rPr>
              <a:t>levels, groups, progress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747504" y="3986784"/>
            <a:ext cx="1773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833"/>
                </a:solidFill>
              </a:rPr>
              <a:t>"How SUNO decided"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A3157"/>
                </a:solidFill>
              </a:rPr>
              <a:t>raw Claude output, every check, the arithmetic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Where each AI call happens, and what it actually does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2423160"/>
                <a:gridCol w="3657600"/>
                <a:gridCol w="3657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When</a:t>
                      </a:r>
                      <a:endParaRPr lang="en-US" sz="1300" dirty="0"/>
                    </a:p>
                  </a:txBody>
                  <a:tcPr marL="91440" marR="91440" marT="54864" marB="54864">
                    <a:lnL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300" dirty="0"/>
                    </a:p>
                  </a:txBody>
                  <a:tcPr marL="91440" marR="91440" marT="54864" marB="54864">
                    <a:lnL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Input → output</a:t>
                      </a:r>
                      <a:endParaRPr lang="en-US" sz="1300" dirty="0"/>
                    </a:p>
                  </a:txBody>
                  <a:tcPr marL="91440" marR="91440" marT="54864" marB="54864">
                    <a:lnL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code does with it</a:t>
                      </a:r>
                      <a:endParaRPr lang="en-US" sz="1300" dirty="0"/>
                    </a:p>
                  </a:txBody>
                  <a:tcPr marL="91440" marR="91440" marT="54864" marB="54864">
                    <a:lnL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3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1833"/>
                          </a:solidFill>
                        </a:rPr>
                        <a:t>Each note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1833"/>
                          </a:solidFill>
                        </a:rPr>
                        <a:t>Sarvam saaras:v4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1833"/>
                          </a:solidFill>
                        </a:rPr>
                        <a:t>60 s of audio → Hindi transcript, split into numbered sentences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1833"/>
                          </a:solidFill>
                        </a:rPr>
                        <a:t>Audio deleted after transcription; the transcript is the only source of evidence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1833"/>
                          </a:solidFill>
                        </a:rPr>
                        <a:t>Each note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1833"/>
                          </a:solidFill>
                        </a:rPr>
                        <a:t>Claude ① claude-opus-5-5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1833"/>
                          </a:solidFill>
                        </a:rPr>
                        <a:t>adaptive thinking, effort high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1833"/>
                          </a:solidFill>
                        </a:rPr>
                        <a:t>Transcript + roster + lesson → JSON (observations.v2): child, skill, item, right/wrong, sentence IDs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1833"/>
                          </a:solidFill>
                        </a:rPr>
                        <a:t>Checks grounding, resolves the child, masks labels, computes confidence; below 0.75 → "check tomorrow"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1833"/>
                          </a:solidFill>
                        </a:rPr>
                        <a:t>Each morning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1833"/>
                          </a:solidFill>
                        </a:rPr>
                        <a:t>Claude ② claude-opus-5-5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1833"/>
                          </a:solidFill>
                        </a:rPr>
                        <a:t>effort medium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1833"/>
                          </a:solidFill>
                        </a:rPr>
                        <a:t>Code's decisions (levels, groups, list) → warm 2-minute Hindi script (brief.v3 schema)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1833"/>
                          </a:solidFill>
                        </a:rPr>
                        <a:t>Rejects any child, skill or plan code didn't decide; fails closed to code's own text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1833"/>
                          </a:solidFill>
                        </a:rPr>
                        <a:t>Each morning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1833"/>
                          </a:solidFill>
                        </a:rPr>
                        <a:t>Sarvam bulbul:v3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1833"/>
                          </a:solidFill>
                        </a:rPr>
                        <a:t>Hindi script → MP3 voice (32 kbps)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1833"/>
                          </a:solidFill>
                        </a:rPr>
                        <a:t>Cached on the phone for offline listening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1833"/>
                          </a:solidFill>
                        </a:rPr>
                        <a:t>Setup only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1833"/>
                          </a:solidFill>
                        </a:rPr>
                        <a:t>Claude vision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1833"/>
                          </a:solidFill>
                        </a:rPr>
                        <a:t>Register photo → first names; textbook page → words by skill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1833"/>
                          </a:solidFill>
                        </a:rPr>
                        <a:t>Keeps first names only; the teacher checks the list; the photo is not stored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laude features"/>
          <p:cNvSpPr/>
          <p:nvPr/>
        </p:nvSpPr>
        <p:spPr>
          <a:xfrm>
            <a:off x="548640" y="5486400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F3F4F9"/>
          </a:solidFill>
          <a:ln w="12700">
            <a:solidFill>
              <a:srgbClr val="F3F4F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55778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833"/>
                </a:solidFill>
              </a:rPr>
              <a:t>Claude API features used: </a:t>
            </a:r>
            <a:pPr indent="0" marL="0">
              <a:buNone/>
            </a:pPr>
            <a:r>
              <a:rPr lang="en-US" sz="1300" dirty="0">
                <a:solidFill>
                  <a:srgbClr val="121833"/>
                </a:solidFill>
              </a:rPr>
              <a:t>structured outputs (JSON schema), adaptive thinking with explicit effort, prompt caching (95% of note input served from cache), server-side fallback, image input. Versioned prompts in prompts/, schemas in schemas/.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Guardrails: wrong AI output never reaches a child's record</a:t>
            </a:r>
            <a:endParaRPr lang="en-US" sz="3000" dirty="0"/>
          </a:p>
        </p:txBody>
      </p:sp>
      <p:sp>
        <p:nvSpPr>
          <p:cNvPr id="3" name="Grounded in her words"/>
          <p:cNvSpPr/>
          <p:nvPr/>
        </p:nvSpPr>
        <p:spPr>
          <a:xfrm>
            <a:off x="548640" y="1234440"/>
            <a:ext cx="3977640" cy="1115568"/>
          </a:xfrm>
          <a:prstGeom prst="roundRect">
            <a:avLst>
              <a:gd name="adj" fmla="val 9836"/>
            </a:avLst>
          </a:prstGeom>
          <a:solidFill>
            <a:srgbClr val="F3F4F9"/>
          </a:solidFill>
          <a:ln w="12700">
            <a:solidFill>
              <a:srgbClr val="F3F4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36192"/>
            <a:ext cx="502920" cy="5029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1656893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36245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833"/>
                </a:solidFill>
              </a:rPr>
              <a:t>Grounded in her words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6916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3157"/>
                </a:solidFill>
              </a:rPr>
              <a:t>Every claim must cite the teacher's real sentence IDs, and its words must appear there.</a:t>
            </a:r>
            <a:endParaRPr lang="en-US" sz="1200" dirty="0"/>
          </a:p>
        </p:txBody>
      </p:sp>
      <p:sp>
        <p:nvSpPr>
          <p:cNvPr id="8" name="Code names the child"/>
          <p:cNvSpPr/>
          <p:nvPr/>
        </p:nvSpPr>
        <p:spPr>
          <a:xfrm>
            <a:off x="4709160" y="1234440"/>
            <a:ext cx="3977640" cy="1115568"/>
          </a:xfrm>
          <a:prstGeom prst="roundRect">
            <a:avLst>
              <a:gd name="adj" fmla="val 9836"/>
            </a:avLst>
          </a:prstGeom>
          <a:solidFill>
            <a:srgbClr val="F3F4F9"/>
          </a:solidFill>
          <a:ln w="12700">
            <a:solidFill>
              <a:srgbClr val="F3F4F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92040" y="1536192"/>
            <a:ext cx="502920" cy="5029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2741" y="1656893"/>
            <a:ext cx="261518" cy="26151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77840" y="136245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833"/>
                </a:solidFill>
              </a:rPr>
              <a:t>Code names the child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5577840" y="16916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3157"/>
                </a:solidFill>
              </a:rPr>
              <a:t>Phonetic match across Devanagari and Latin; roll numbers; two Priyas → one tap, never a guess.</a:t>
            </a:r>
            <a:endParaRPr lang="en-US" sz="1200" dirty="0"/>
          </a:p>
        </p:txBody>
      </p:sp>
      <p:sp>
        <p:nvSpPr>
          <p:cNvPr id="13" name="Labels masked"/>
          <p:cNvSpPr/>
          <p:nvPr/>
        </p:nvSpPr>
        <p:spPr>
          <a:xfrm>
            <a:off x="548640" y="2487168"/>
            <a:ext cx="3977640" cy="1115568"/>
          </a:xfrm>
          <a:prstGeom prst="roundRect">
            <a:avLst>
              <a:gd name="adj" fmla="val 9836"/>
            </a:avLst>
          </a:prstGeom>
          <a:solidFill>
            <a:srgbClr val="F3F4F9"/>
          </a:solidFill>
          <a:ln w="12700">
            <a:solidFill>
              <a:srgbClr val="F3F4F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31520" y="2788920"/>
            <a:ext cx="502920" cy="5029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1" y="2909621"/>
            <a:ext cx="261518" cy="26151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17320" y="2615184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833"/>
                </a:solidFill>
              </a:rPr>
              <a:t>Labels masked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417320" y="29443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3157"/>
                </a:solidFill>
              </a:rPr>
              <a:t>"Weak", कमज़ोर and similar words (Hindi and English list) are masked and never repeated.</a:t>
            </a:r>
            <a:endParaRPr lang="en-US" sz="1200" dirty="0"/>
          </a:p>
        </p:txBody>
      </p:sp>
      <p:sp>
        <p:nvSpPr>
          <p:cNvPr id="18" name="Opinions aren't evidence"/>
          <p:cNvSpPr/>
          <p:nvPr/>
        </p:nvSpPr>
        <p:spPr>
          <a:xfrm>
            <a:off x="4709160" y="2487168"/>
            <a:ext cx="3977640" cy="1115568"/>
          </a:xfrm>
          <a:prstGeom prst="roundRect">
            <a:avLst>
              <a:gd name="adj" fmla="val 9836"/>
            </a:avLst>
          </a:prstGeom>
          <a:solidFill>
            <a:srgbClr val="F3F4F9"/>
          </a:solidFill>
          <a:ln w="12700">
            <a:solidFill>
              <a:srgbClr val="F3F4F9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92040" y="2788920"/>
            <a:ext cx="502920" cy="5029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2741" y="2909621"/>
            <a:ext cx="261518" cy="26151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577840" y="2615184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833"/>
                </a:solidFill>
              </a:rPr>
              <a:t>Opinions aren't evidence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5577840" y="29443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3157"/>
                </a:solidFill>
              </a:rPr>
              <a:t>"Sonu is weak" becomes "listen to Sonu tomorrow", not a record.</a:t>
            </a:r>
            <a:endParaRPr lang="en-US" sz="1200" dirty="0"/>
          </a:p>
        </p:txBody>
      </p:sp>
      <p:sp>
        <p:nvSpPr>
          <p:cNvPr id="23" name="Confidence from code"/>
          <p:cNvSpPr/>
          <p:nvPr/>
        </p:nvSpPr>
        <p:spPr>
          <a:xfrm>
            <a:off x="548640" y="3739896"/>
            <a:ext cx="3977640" cy="1115568"/>
          </a:xfrm>
          <a:prstGeom prst="roundRect">
            <a:avLst>
              <a:gd name="adj" fmla="val 9836"/>
            </a:avLst>
          </a:prstGeom>
          <a:solidFill>
            <a:srgbClr val="F3F4F9"/>
          </a:solidFill>
          <a:ln w="12700">
            <a:solidFill>
              <a:srgbClr val="F3F4F9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31520" y="4041648"/>
            <a:ext cx="502920" cy="5029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21" y="4162349"/>
            <a:ext cx="261518" cy="26151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417320" y="386791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833"/>
                </a:solidFill>
              </a:rPr>
              <a:t>Confidence from code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1417320" y="4197096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3157"/>
                </a:solidFill>
              </a:rPr>
              <a:t>Computed from measured signals; Claude never sets it. Below 0.75 → "check tomorrow".</a:t>
            </a:r>
            <a:endParaRPr lang="en-US" sz="1200" dirty="0"/>
          </a:p>
        </p:txBody>
      </p:sp>
      <p:sp>
        <p:nvSpPr>
          <p:cNvPr id="28" name="Rule of three"/>
          <p:cNvSpPr/>
          <p:nvPr/>
        </p:nvSpPr>
        <p:spPr>
          <a:xfrm>
            <a:off x="4709160" y="3739896"/>
            <a:ext cx="3977640" cy="1115568"/>
          </a:xfrm>
          <a:prstGeom prst="roundRect">
            <a:avLst>
              <a:gd name="adj" fmla="val 9836"/>
            </a:avLst>
          </a:prstGeom>
          <a:solidFill>
            <a:srgbClr val="F3F4F9"/>
          </a:solidFill>
          <a:ln w="12700">
            <a:solidFill>
              <a:srgbClr val="F3F4F9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4892040" y="4041648"/>
            <a:ext cx="502920" cy="5029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2741" y="4162349"/>
            <a:ext cx="261518" cy="26151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5577840" y="386791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833"/>
                </a:solidFill>
              </a:rPr>
              <a:t>Rule of three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5577840" y="4197096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3157"/>
                </a:solidFill>
              </a:rPr>
              <a:t>A child is named "needs support" only after 3 observations on 2 days.</a:t>
            </a:r>
            <a:endParaRPr lang="en-US" sz="1200" dirty="0"/>
          </a:p>
        </p:txBody>
      </p:sp>
      <p:sp>
        <p:nvSpPr>
          <p:cNvPr id="33" name="Brief checked, fails closed"/>
          <p:cNvSpPr/>
          <p:nvPr/>
        </p:nvSpPr>
        <p:spPr>
          <a:xfrm>
            <a:off x="548640" y="4992624"/>
            <a:ext cx="3977640" cy="1115568"/>
          </a:xfrm>
          <a:prstGeom prst="roundRect">
            <a:avLst>
              <a:gd name="adj" fmla="val 9836"/>
            </a:avLst>
          </a:prstGeom>
          <a:solidFill>
            <a:srgbClr val="F3F4F9"/>
          </a:solidFill>
          <a:ln w="12700">
            <a:solidFill>
              <a:srgbClr val="F3F4F9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731520" y="5294376"/>
            <a:ext cx="502920" cy="5029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221" y="5415077"/>
            <a:ext cx="261518" cy="261518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417320" y="51206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833"/>
                </a:solidFill>
              </a:rPr>
              <a:t>Brief checked, fails closed</a:t>
            </a:r>
            <a:endParaRPr lang="en-US" sz="1500" dirty="0"/>
          </a:p>
        </p:txBody>
      </p:sp>
      <p:sp>
        <p:nvSpPr>
          <p:cNvPr id="37" name="Text 28"/>
          <p:cNvSpPr txBox="1"/>
          <p:nvPr/>
        </p:nvSpPr>
        <p:spPr>
          <a:xfrm>
            <a:off x="1417320" y="5449824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3157"/>
                </a:solidFill>
              </a:rPr>
              <a:t>Claude's brief may only say what code decided, or code's own text is used.</a:t>
            </a:r>
            <a:endParaRPr lang="en-US" sz="1200" dirty="0"/>
          </a:p>
        </p:txBody>
      </p:sp>
      <p:sp>
        <p:nvSpPr>
          <p:cNvPr id="38" name="The teacher decides"/>
          <p:cNvSpPr/>
          <p:nvPr/>
        </p:nvSpPr>
        <p:spPr>
          <a:xfrm>
            <a:off x="4709160" y="4992624"/>
            <a:ext cx="3977640" cy="1115568"/>
          </a:xfrm>
          <a:prstGeom prst="roundRect">
            <a:avLst>
              <a:gd name="adj" fmla="val 9836"/>
            </a:avLst>
          </a:prstGeom>
          <a:solidFill>
            <a:srgbClr val="F3F4F9"/>
          </a:solidFill>
          <a:ln w="12700">
            <a:solidFill>
              <a:srgbClr val="F3F4F9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4892040" y="5294376"/>
            <a:ext cx="502920" cy="5029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12741" y="5415077"/>
            <a:ext cx="261518" cy="261518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5577840" y="51206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833"/>
                </a:solidFill>
              </a:rPr>
              <a:t>The teacher decides</a:t>
            </a:r>
            <a:endParaRPr lang="en-US" sz="1500" dirty="0"/>
          </a:p>
        </p:txBody>
      </p:sp>
      <p:sp>
        <p:nvSpPr>
          <p:cNvPr id="42" name="Text 32"/>
          <p:cNvSpPr txBox="1"/>
          <p:nvPr/>
        </p:nvSpPr>
        <p:spPr>
          <a:xfrm>
            <a:off x="5577840" y="5449824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3157"/>
                </a:solidFill>
              </a:rPr>
              <a:t>Right / wrong taps on every record; "How SUNO decided" shows the raw output and every check.</a:t>
            </a:r>
            <a:endParaRPr lang="en-US" sz="1200" dirty="0"/>
          </a:p>
        </p:txBody>
      </p:sp>
      <p:sp>
        <p:nvSpPr>
          <p:cNvPr id="43" name="Note result: which Priya, name not on roster, check again frame"/>
          <p:cNvSpPr/>
          <p:nvPr/>
        </p:nvSpPr>
        <p:spPr>
          <a:xfrm>
            <a:off x="9107424" y="1216152"/>
            <a:ext cx="2002601" cy="4142232"/>
          </a:xfrm>
          <a:prstGeom prst="roundRect">
            <a:avLst>
              <a:gd name="adj" fmla="val 10045"/>
            </a:avLst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44" name="Note result: which Priya, name not on roster, check again" descr="Note result: which Priya, name not on roster, check agai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89720" y="1298448"/>
            <a:ext cx="1838009" cy="3977640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8961120" y="544068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283"/>
                </a:solidFill>
              </a:rPr>
              <a:t>In the app: "which Priya?" is one tap; a name not on the roster is asked, not guessed.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It works on a real voice, on an ordinary phone, in classroom noise</a:t>
            </a:r>
            <a:endParaRPr lang="en-US" sz="3000" dirty="0"/>
          </a:p>
        </p:txBody>
      </p:sp>
      <p:sp>
        <p:nvSpPr>
          <p:cNvPr id="3" name="Stat 0 / 56"/>
          <p:cNvSpPr/>
          <p:nvPr/>
        </p:nvSpPr>
        <p:spPr>
          <a:xfrm>
            <a:off x="548640" y="1280160"/>
            <a:ext cx="2880360" cy="1645920"/>
          </a:xfrm>
          <a:prstGeom prst="roundRect">
            <a:avLst>
              <a:gd name="adj" fmla="val 6667"/>
            </a:avLst>
          </a:prstGeom>
          <a:solidFill>
            <a:srgbClr val="F3F4F9"/>
          </a:solidFill>
          <a:ln w="12700">
            <a:solidFill>
              <a:srgbClr val="F3F4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2185B"/>
                </a:solidFill>
              </a:rPr>
              <a:t>0 / 56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3157"/>
                </a:solidFill>
              </a:rPr>
              <a:t>evidence records about the wrong child</a:t>
            </a:r>
            <a:endParaRPr lang="en-US" sz="1300" dirty="0"/>
          </a:p>
        </p:txBody>
      </p:sp>
      <p:sp>
        <p:nvSpPr>
          <p:cNvPr id="6" name="Stat 0 / 21"/>
          <p:cNvSpPr/>
          <p:nvPr/>
        </p:nvSpPr>
        <p:spPr>
          <a:xfrm>
            <a:off x="3611880" y="1280160"/>
            <a:ext cx="2880360" cy="1645920"/>
          </a:xfrm>
          <a:prstGeom prst="roundRect">
            <a:avLst>
              <a:gd name="adj" fmla="val 6667"/>
            </a:avLst>
          </a:prstGeom>
          <a:solidFill>
            <a:srgbClr val="F3F4F9"/>
          </a:solidFill>
          <a:ln w="12700">
            <a:solidFill>
              <a:srgbClr val="F3F4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840480" y="14630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2185B"/>
                </a:solidFill>
              </a:rPr>
              <a:t>0 / 21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21945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3157"/>
                </a:solidFill>
              </a:rPr>
              <a:t>opinions, labels or vague remarks that became evidence</a:t>
            </a:r>
            <a:endParaRPr lang="en-US" sz="1300" dirty="0"/>
          </a:p>
        </p:txBody>
      </p:sp>
      <p:sp>
        <p:nvSpPr>
          <p:cNvPr id="9" name="Stat 98%"/>
          <p:cNvSpPr/>
          <p:nvPr/>
        </p:nvSpPr>
        <p:spPr>
          <a:xfrm>
            <a:off x="548640" y="3108960"/>
            <a:ext cx="2880360" cy="1645920"/>
          </a:xfrm>
          <a:prstGeom prst="roundRect">
            <a:avLst>
              <a:gd name="adj" fmla="val 6667"/>
            </a:avLst>
          </a:prstGeom>
          <a:solidFill>
            <a:srgbClr val="F3F4F9"/>
          </a:solidFill>
          <a:ln w="12700">
            <a:solidFill>
              <a:srgbClr val="F3F4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2918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2185B"/>
                </a:solidFill>
              </a:rPr>
              <a:t>98%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0233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3157"/>
                </a:solidFill>
              </a:rPr>
              <a:t>of clear observations captured (56 of 57)</a:t>
            </a:r>
            <a:endParaRPr lang="en-US" sz="1300" dirty="0"/>
          </a:p>
        </p:txBody>
      </p:sp>
      <p:sp>
        <p:nvSpPr>
          <p:cNvPr id="12" name="Stat 15 / 15"/>
          <p:cNvSpPr/>
          <p:nvPr/>
        </p:nvSpPr>
        <p:spPr>
          <a:xfrm>
            <a:off x="3611880" y="3108960"/>
            <a:ext cx="2880360" cy="1645920"/>
          </a:xfrm>
          <a:prstGeom prst="roundRect">
            <a:avLst>
              <a:gd name="adj" fmla="val 6667"/>
            </a:avLst>
          </a:prstGeom>
          <a:solidFill>
            <a:srgbClr val="F3F4F9"/>
          </a:solidFill>
          <a:ln w="12700">
            <a:solidFill>
              <a:srgbClr val="F3F4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40480" y="32918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2185B"/>
                </a:solidFill>
              </a:rPr>
              <a:t>15 / 15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40233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3157"/>
                </a:solidFill>
              </a:rPr>
              <a:t>absences recorded, and unclear names resolved by one tap</a:t>
            </a:r>
            <a:endParaRPr lang="en-US" sz="13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858000" y="1280160"/>
          <a:ext cx="47548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6858000" y="48463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3157"/>
                </a:solidFill>
              </a:rPr>
              <a:t>Despite 15–22% transcription errors, no evidence landed on the wrong child: code resolves names, and a specific word or sum is required.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507492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283"/>
                </a:solidFill>
              </a:rPr>
              <a:t>Real-speech test: 15 recordings of 5 scripted notes by one team member (an adult man) in three settings; a fictional class, so ground truth is known. Not yet a teacher. Source: eval/results/real_notes.md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Simulated terms: the listening list finds the children a diary misses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3444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im stat 0"/>
          <p:cNvSpPr/>
          <p:nvPr/>
        </p:nvSpPr>
        <p:spPr>
          <a:xfrm>
            <a:off x="7863840" y="1234440"/>
            <a:ext cx="3749040" cy="1261872"/>
          </a:xfrm>
          <a:prstGeom prst="roundRect">
            <a:avLst>
              <a:gd name="adj" fmla="val 8696"/>
            </a:avLst>
          </a:prstGeom>
          <a:solidFill>
            <a:srgbClr val="F3F4F9"/>
          </a:solidFill>
          <a:ln w="12700">
            <a:solidFill>
              <a:srgbClr val="F3F4F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092440" y="13716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C2185B"/>
                </a:solidFill>
              </a:rPr>
              <a:t>93% vs 41%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8092440" y="19476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3157"/>
                </a:solidFill>
              </a:rPr>
              <a:t>of the quietest third heard by week 2</a:t>
            </a:r>
            <a:endParaRPr lang="en-US" sz="1300" dirty="0"/>
          </a:p>
        </p:txBody>
      </p:sp>
      <p:sp>
        <p:nvSpPr>
          <p:cNvPr id="7" name="Sim stat 1"/>
          <p:cNvSpPr/>
          <p:nvPr/>
        </p:nvSpPr>
        <p:spPr>
          <a:xfrm>
            <a:off x="7863840" y="2651760"/>
            <a:ext cx="3749040" cy="1261872"/>
          </a:xfrm>
          <a:prstGeom prst="roundRect">
            <a:avLst>
              <a:gd name="adj" fmla="val 8696"/>
            </a:avLst>
          </a:prstGeom>
          <a:solidFill>
            <a:srgbClr val="F3F4F9"/>
          </a:solidFill>
          <a:ln w="12700">
            <a:solidFill>
              <a:srgbClr val="F3F4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92440" y="27889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C2185B"/>
                </a:solidFill>
              </a:rPr>
              <a:t>36% vs 4%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336499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3157"/>
                </a:solidFill>
              </a:rPr>
              <a:t>of quiet children's gaps found by week 8</a:t>
            </a:r>
            <a:endParaRPr lang="en-US" sz="1300" dirty="0"/>
          </a:p>
        </p:txBody>
      </p:sp>
      <p:sp>
        <p:nvSpPr>
          <p:cNvPr id="10" name="Sim stat 2"/>
          <p:cNvSpPr/>
          <p:nvPr/>
        </p:nvSpPr>
        <p:spPr>
          <a:xfrm>
            <a:off x="7863840" y="4069080"/>
            <a:ext cx="3749040" cy="1261872"/>
          </a:xfrm>
          <a:prstGeom prst="roundRect">
            <a:avLst>
              <a:gd name="adj" fmla="val 8696"/>
            </a:avLst>
          </a:prstGeom>
          <a:solidFill>
            <a:srgbClr val="F3F4F9"/>
          </a:solidFill>
          <a:ln w="12700">
            <a:solidFill>
              <a:srgbClr val="F3F4F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92440" y="42062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C2185B"/>
                </a:solidFill>
              </a:rPr>
              <a:t>≈ 99%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8092440" y="47823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3157"/>
                </a:solidFill>
              </a:rPr>
              <a:t>of "needs support" flags are right, in every state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5321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283"/>
                </a:solidFill>
              </a:rPr>
              <a:t>SIMULATED children and teachers, SUNO's real tracker and planner, error rates from the pipeline tests (floored at 3/n). Chart: reading levels and attendance from ASER 2024's published state tables (eval/results/sim_aser.md). Stat cards: 200 default terms (eval/results/sim_term.md). The first planner made detection worse; the simulation changed the design.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Built for low connectivity, low data and low-cost phones</a:t>
            </a:r>
            <a:endParaRPr lang="en-US" sz="3000" dirty="0"/>
          </a:p>
        </p:txBody>
      </p:sp>
      <p:sp>
        <p:nvSpPr>
          <p:cNvPr id="3" name="Works offline"/>
          <p:cNvSpPr/>
          <p:nvPr/>
        </p:nvSpPr>
        <p:spPr>
          <a:xfrm>
            <a:off x="548640" y="1234440"/>
            <a:ext cx="3566160" cy="3154680"/>
          </a:xfrm>
          <a:prstGeom prst="roundRect">
            <a:avLst>
              <a:gd name="adj" fmla="val 3478"/>
            </a:avLst>
          </a:prstGeom>
          <a:solidFill>
            <a:srgbClr val="F3F4F9"/>
          </a:solidFill>
          <a:ln w="12700">
            <a:solidFill>
              <a:srgbClr val="F3F4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417320"/>
            <a:ext cx="502920" cy="5029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538021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4813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1833"/>
                </a:solidFill>
              </a:rPr>
              <a:t>Works offline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103120"/>
            <a:ext cx="3154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A3157"/>
                </a:solidFill>
              </a:rPr>
              <a:t>Recording a note: saved on the phone, sent automatically when the network returns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A3157"/>
                </a:solidFill>
              </a:rPr>
              <a:t>The last brief and its audio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A3157"/>
                </a:solidFill>
              </a:rPr>
              <a:t>The class picture and child pages as last loaded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A3157"/>
                </a:solidFill>
              </a:rPr>
              <a:t>The app itself (installable PWA, no app store)</a:t>
            </a:r>
            <a:endParaRPr lang="en-US" sz="1350" dirty="0"/>
          </a:p>
        </p:txBody>
      </p:sp>
      <p:sp>
        <p:nvSpPr>
          <p:cNvPr id="8" name="Needs a network"/>
          <p:cNvSpPr/>
          <p:nvPr/>
        </p:nvSpPr>
        <p:spPr>
          <a:xfrm>
            <a:off x="4297680" y="1234440"/>
            <a:ext cx="3566160" cy="3154680"/>
          </a:xfrm>
          <a:prstGeom prst="roundRect">
            <a:avLst>
              <a:gd name="adj" fmla="val 3478"/>
            </a:avLst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26280" y="1417320"/>
            <a:ext cx="502920" cy="5029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981" y="153802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166360" y="14813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1833"/>
                </a:solidFill>
              </a:rPr>
              <a:t>Needs a network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526280" y="2103120"/>
            <a:ext cx="3154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A3157"/>
                </a:solidFill>
              </a:rPr>
              <a:t>Sending a note: about 100–250 KB a minute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A3157"/>
                </a:solidFill>
              </a:rPr>
              <a:t>Fetching the next brief: a few KB of text plus ~0.5 MB of audio (32 kbps MP3)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A3157"/>
                </a:solidFill>
              </a:rPr>
              <a:t>Setup photos: shrunk to ~1600 px on the phone before upload</a:t>
            </a:r>
            <a:endParaRPr lang="en-US" sz="1350" dirty="0"/>
          </a:p>
        </p:txBody>
      </p:sp>
      <p:sp>
        <p:nvSpPr>
          <p:cNvPr id="13" name="Degrades gracefully"/>
          <p:cNvSpPr/>
          <p:nvPr/>
        </p:nvSpPr>
        <p:spPr>
          <a:xfrm>
            <a:off x="8046720" y="1234440"/>
            <a:ext cx="3566160" cy="3154680"/>
          </a:xfrm>
          <a:prstGeom prst="roundRect">
            <a:avLst>
              <a:gd name="adj" fmla="val 3478"/>
            </a:avLst>
          </a:prstGeom>
          <a:solidFill>
            <a:srgbClr val="E3F6EC"/>
          </a:solidFill>
          <a:ln w="12700">
            <a:solidFill>
              <a:srgbClr val="E3F6E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75320" y="1417320"/>
            <a:ext cx="502920" cy="5029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6021" y="1538021"/>
            <a:ext cx="261518" cy="26151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915400" y="14813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1833"/>
                </a:solidFill>
              </a:rPr>
              <a:t>Degrades gracefully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275320" y="2103120"/>
            <a:ext cx="3154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A3157"/>
                </a:solidFill>
              </a:rPr>
              <a:t>No signal: the note waits in an offline queue, nothing is lost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A3157"/>
                </a:solidFill>
              </a:rPr>
              <a:t>A skipped day breaks nothing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A3157"/>
                </a:solidFill>
              </a:rPr>
              <a:t>If Claude's brief fails a check, code's own text is used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A3157"/>
                </a:solidFill>
              </a:rPr>
              <a:t>Server asleep (free hosting): first visit takes ~1 minute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4572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1833"/>
                </a:solidFill>
              </a:rPr>
              <a:t>Try the offline test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2743200" y="4553712"/>
            <a:ext cx="365760" cy="365760"/>
          </a:xfrm>
          <a:prstGeom prst="ellipse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743200" y="4553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3218688" y="453542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3157"/>
                </a:solidFill>
              </a:rPr>
              <a:t>Turn the phone's network off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5715000" y="4553712"/>
            <a:ext cx="365760" cy="365760"/>
          </a:xfrm>
          <a:prstGeom prst="ellipse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5715000" y="4553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6190488" y="453542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3157"/>
                </a:solidFill>
              </a:rPr>
              <a:t>Record a note: it is saved on the phone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8686800" y="4553712"/>
            <a:ext cx="365760" cy="365760"/>
          </a:xfrm>
          <a:prstGeom prst="ellipse">
            <a:avLst/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8686800" y="4553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7" name="Text 22"/>
          <p:cNvSpPr txBox="1"/>
          <p:nvPr/>
        </p:nvSpPr>
        <p:spPr>
          <a:xfrm>
            <a:off x="9162288" y="453542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3157"/>
                </a:solidFill>
              </a:rPr>
              <a:t>Turn the network on: it sends itself, and the result appears</a:t>
            </a:r>
            <a:endParaRPr lang="en-US" sz="1300" dirty="0"/>
          </a:p>
        </p:txBody>
      </p:sp>
      <p:sp>
        <p:nvSpPr>
          <p:cNvPr id="28" name="Device and cost"/>
          <p:cNvSpPr/>
          <p:nvPr/>
        </p:nvSpPr>
        <p:spPr>
          <a:xfrm>
            <a:off x="548640" y="5349240"/>
            <a:ext cx="11064240" cy="822960"/>
          </a:xfrm>
          <a:prstGeom prst="roundRect">
            <a:avLst>
              <a:gd name="adj" fmla="val 13333"/>
            </a:avLst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777240" y="54406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020"/>
                </a:solidFill>
              </a:rPr>
              <a:t>Any Android phone with Chrome (₹8–10k class).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About a minute of teacher time a day. ₹17.6 per teacher per school day, ≈ ₹117 per child per year (from logged usage, eval/results/cost.md).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1945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User inputs and testing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5204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CFEE"/>
                </a:solidFill>
              </a:rPr>
              <a:t>Two mentor calls, organiser guidance, a feasibility test and a real-speech test each changed what we built.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we heard, and what we changed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4206240"/>
                <a:gridCol w="47091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Source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What they said or showed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What we changed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3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1833"/>
                          </a:solidFill>
                        </a:rPr>
                        <a:t>Technical mentor, 20 Oct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1833"/>
                          </a:solidFill>
                        </a:rPr>
                        <a:t>"Test whether each answer maps to the right child before building any app." Recording all day heats and drains a ₹8–10k phone.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1833"/>
                          </a:solidFill>
                        </a:rPr>
                        <a:t>Built feasibility test F1 on real child voices: voice matching cannot name the child. Dropped classroom recording; SUNO now listens to the teacher.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1833"/>
                          </a:solidFill>
                        </a:rPr>
                        <a:t>Real-speech test, 27 Oct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1833"/>
                          </a:solidFill>
                        </a:rPr>
                        <a:t>3 of 21 vague remarks became evidence; 3 of 15 absences lost ("रोल तेरह" heard as "रोल तेरा").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1833"/>
                          </a:solidFill>
                        </a:rPr>
                        <a:t>Evidence now needs a specific word or sum; spoken roll numbers parsed; one-tap question for unclear absences. Re-run: 0 of 21, 15 of 15.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1833"/>
                          </a:solidFill>
                        </a:rPr>
                        <a:t>Education mentor, 28 Oct</a:t>
                      </a:r>
                      <a:endParaRPr lang="en-US" sz="1150" dirty="0"/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1833"/>
                          </a:solidFill>
                        </a:rPr>
                        <a:t>Rebecca Swittens, Madhi Foundation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1833"/>
                          </a:solidFill>
                        </a:rPr>
                        <a:t>A note after each of ~6 classes is too much.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1833"/>
                          </a:solidFill>
                        </a:rPr>
                        <a:t>One note a day after the reading period, plus a daily reminder in her own calendar.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1833"/>
                          </a:solidFill>
                        </a:rPr>
                        <a:t>Teachers speak at class level ("most struggled with matras").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1833"/>
                          </a:solidFill>
                        </a:rPr>
                        <a:t>Whole-class remarks become a code-checked "reteach or move on" that opens the brief.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1833"/>
                          </a:solidFill>
                        </a:rPr>
                        <a:t>Levels need a baseline like the ASER tool; show progress over time.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1833"/>
                          </a:solidFill>
                        </a:rPr>
                        <a:t>Optional ASER-style starting levels; each child's level week by week.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1833"/>
                          </a:solidFill>
                        </a:rPr>
                        <a:t>Teachers skip children; use TaRL-style nudges. Align to the textbook.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1833"/>
                          </a:solidFill>
                        </a:rPr>
                        <a:t>After each note, a one-tap nudge for listed children she didn't mention. Textbook page photo → this week's words.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1833"/>
                          </a:solidFill>
                        </a:rPr>
                        <a:t>Organisers, mid-Oct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1833"/>
                          </a:solidFill>
                        </a:rPr>
                        <a:t>Real users and settings score higher; show mentor input and what it changed.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1833"/>
                          </a:solidFill>
                        </a:rPr>
                        <a:t>This change log (docs/decisions.md); teacher sessions requested for the finale.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283"/>
                </a:solidFill>
              </a:rPr>
              <a:t>Full log with dates and where each change shows in the code: docs/decisions.md. Language per class (e.g. Tamil), also from the education mentor, is on the roadmap.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How the design changed, and what we have not proven yet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40664" y="1572768"/>
            <a:ext cx="1856232" cy="0"/>
          </a:xfrm>
          <a:prstGeom prst="line">
            <a:avLst/>
          </a:prstGeom>
          <a:noFill/>
          <a:ln w="25400">
            <a:solidFill>
              <a:srgbClr val="DDE1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384048" cy="384048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833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74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1833"/>
                </a:solidFill>
              </a:rPr>
              <a:t>Ideate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12848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3157"/>
                </a:solidFill>
              </a:rPr>
              <a:t>A phone records the reading lesson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96896" y="1572768"/>
            <a:ext cx="1856232" cy="0"/>
          </a:xfrm>
          <a:prstGeom prst="line">
            <a:avLst/>
          </a:prstGeom>
          <a:noFill/>
          <a:ln w="25400">
            <a:solidFill>
              <a:srgbClr val="DDE1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04872" y="1371600"/>
            <a:ext cx="384048" cy="384048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04872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833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404872" y="1874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1833"/>
                </a:solidFill>
              </a:rPr>
              <a:t>F1 test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404872" y="2212848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3157"/>
                </a:solidFill>
              </a:rPr>
              <a:t>Voice matching can't name the child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53128" y="1572768"/>
            <a:ext cx="1856232" cy="0"/>
          </a:xfrm>
          <a:prstGeom prst="line">
            <a:avLst/>
          </a:prstGeom>
          <a:noFill/>
          <a:ln w="25400">
            <a:solidFill>
              <a:srgbClr val="DDE1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61104" y="1371600"/>
            <a:ext cx="384048" cy="384048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61104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833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261104" y="1874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1833"/>
                </a:solidFill>
              </a:rPr>
              <a:t>Pivot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261104" y="2212848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3157"/>
                </a:solidFill>
              </a:rPr>
              <a:t>Listen to the teacher, not the classroom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1572768"/>
            <a:ext cx="1856232" cy="0"/>
          </a:xfrm>
          <a:prstGeom prst="line">
            <a:avLst/>
          </a:prstGeom>
          <a:noFill/>
          <a:ln w="25400">
            <a:solidFill>
              <a:srgbClr val="DDE1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17336" y="1371600"/>
            <a:ext cx="384048" cy="384048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17336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833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117336" y="1874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1833"/>
                </a:solidFill>
              </a:rPr>
              <a:t>Simulation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117336" y="2212848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3157"/>
                </a:solidFill>
              </a:rPr>
              <a:t>First planner made detection worse → ladder + two-item check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65592" y="1572768"/>
            <a:ext cx="1856232" cy="0"/>
          </a:xfrm>
          <a:prstGeom prst="line">
            <a:avLst/>
          </a:prstGeom>
          <a:noFill/>
          <a:ln w="25400">
            <a:solidFill>
              <a:srgbClr val="DDE1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73568" y="1371600"/>
            <a:ext cx="384048" cy="384048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973568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833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973568" y="1874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1833"/>
                </a:solidFill>
              </a:rPr>
              <a:t>Real speech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973568" y="2212848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3157"/>
                </a:solidFill>
              </a:rPr>
              <a:t>Vague remarks slipped in → specific-word rule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021824" y="1572768"/>
            <a:ext cx="0" cy="0"/>
          </a:xfrm>
          <a:prstGeom prst="line">
            <a:avLst/>
          </a:prstGeom>
          <a:noFill/>
          <a:ln w="25400">
            <a:solidFill>
              <a:srgbClr val="DDE1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29800" y="1371600"/>
            <a:ext cx="384048" cy="384048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8298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833"/>
                </a:solidFill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829800" y="1874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1833"/>
                </a:solidFill>
              </a:rPr>
              <a:t>Mentor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829800" y="2212848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3157"/>
                </a:solidFill>
              </a:rPr>
              <a:t>One note a day, class-level remarks, baseline, nudges, textbook</a:t>
            </a:r>
            <a:endParaRPr lang="en-US" sz="1200" dirty="0"/>
          </a:p>
        </p:txBody>
      </p:sp>
      <p:sp>
        <p:nvSpPr>
          <p:cNvPr id="33" name="Tested"/>
          <p:cNvSpPr/>
          <p:nvPr/>
        </p:nvSpPr>
        <p:spPr>
          <a:xfrm>
            <a:off x="548640" y="3429000"/>
            <a:ext cx="5394960" cy="2514600"/>
          </a:xfrm>
          <a:prstGeom prst="roundRect">
            <a:avLst>
              <a:gd name="adj" fmla="val 4364"/>
            </a:avLst>
          </a:prstGeom>
          <a:solidFill>
            <a:srgbClr val="F3F4F9"/>
          </a:solidFill>
          <a:ln w="12700">
            <a:solidFill>
              <a:srgbClr val="F3F4F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7240" y="35661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B673"/>
                </a:solidFill>
              </a:rPr>
              <a:t>Tested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777240" y="3977640"/>
            <a:ext cx="4983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A3157"/>
                </a:solidFill>
              </a:rPr>
              <a:t>One real speaker, 15 recordings, three settings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A3157"/>
                </a:solidFill>
              </a:rPr>
              <a:t>32 simulated notes, 4 teacher styles, real speech-to-text: 0 of 101 records on the wrong child, 0 of 42 opinions became evidence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A3157"/>
                </a:solidFill>
              </a:rPr>
              <a:t>200 simulated terms, and 200 per state in ASER 2024-calibrated classes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A3157"/>
                </a:solidFill>
              </a:rPr>
              <a:t>97 tests, including adversarial cases</a:t>
            </a:r>
            <a:endParaRPr lang="en-US" sz="1300" dirty="0"/>
          </a:p>
        </p:txBody>
      </p:sp>
      <p:sp>
        <p:nvSpPr>
          <p:cNvPr id="36" name="Not yet"/>
          <p:cNvSpPr/>
          <p:nvPr/>
        </p:nvSpPr>
        <p:spPr>
          <a:xfrm>
            <a:off x="6217920" y="3429000"/>
            <a:ext cx="5394960" cy="2514600"/>
          </a:xfrm>
          <a:prstGeom prst="roundRect">
            <a:avLst>
              <a:gd name="adj" fmla="val 4364"/>
            </a:avLst>
          </a:prstGeom>
          <a:solidFill>
            <a:srgbClr val="FDE4EC"/>
          </a:solidFill>
          <a:ln w="12700">
            <a:solidFill>
              <a:srgbClr val="FDE4E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46520" y="35661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5484D"/>
                </a:solidFill>
              </a:rPr>
              <a:t>Not proven yet, and our plan</a:t>
            </a:r>
            <a:endParaRPr lang="en-US" sz="1700" dirty="0"/>
          </a:p>
        </p:txBody>
      </p:sp>
      <p:sp>
        <p:nvSpPr>
          <p:cNvPr id="38" name="Text 36"/>
          <p:cNvSpPr txBox="1"/>
          <p:nvPr/>
        </p:nvSpPr>
        <p:spPr>
          <a:xfrm>
            <a:off x="6446520" y="3977640"/>
            <a:ext cx="4983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A3157"/>
                </a:solidFill>
              </a:rPr>
              <a:t>No real teacher has used SUNO in her class yet (sessions requested through the organisers)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A3157"/>
                </a:solidFill>
              </a:rPr>
              <a:t>Most teachers are women; our real-speech speaker is a man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A3157"/>
                </a:solidFill>
              </a:rPr>
              <a:t>A level from SUNO is not yet compared with an ASER check on the same children: that is the November pilot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1945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Future roadmap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5204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CFEE"/>
                </a:solidFill>
              </a:rPr>
              <a:t>From a validated pilot to a capability inside the apps teachers already use.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Three phases: validate, reach a block, live inside state systems</a:t>
            </a:r>
            <a:endParaRPr lang="en-US" sz="3000" dirty="0"/>
          </a:p>
        </p:txBody>
      </p:sp>
      <p:sp>
        <p:nvSpPr>
          <p:cNvPr id="3" name="Classroom pilot + validation"/>
          <p:cNvSpPr/>
          <p:nvPr/>
        </p:nvSpPr>
        <p:spPr>
          <a:xfrm>
            <a:off x="548640" y="1234440"/>
            <a:ext cx="3566160" cy="4160520"/>
          </a:xfrm>
          <a:prstGeom prst="roundRect">
            <a:avLst>
              <a:gd name="adj" fmla="val 3077"/>
            </a:avLst>
          </a:prstGeom>
          <a:solidFill>
            <a:srgbClr val="F3F4F9"/>
          </a:solidFill>
          <a:ln w="12700">
            <a:solidFill>
              <a:srgbClr val="F3F4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463040"/>
            <a:ext cx="1325880" cy="384048"/>
          </a:xfrm>
          <a:prstGeom prst="roundRect">
            <a:avLst>
              <a:gd name="adj" fmla="val 47619"/>
            </a:avLst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63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833"/>
                </a:solidFill>
              </a:rPr>
              <a:t>Nov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116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1833"/>
                </a:solidFill>
              </a:rPr>
              <a:t>Classroom pilot + validation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43200"/>
            <a:ext cx="3154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A3157"/>
                </a:solidFill>
              </a:rPr>
              <a:t>3–5 Grade 1–3 teachers, Hindi-medium government schools, two weeks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A3157"/>
                </a:solidFill>
              </a:rPr>
              <a:t>Pre-registered check: SUNO's level vs a blind ASER one-to-one test on the same 20–30 children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A3157"/>
                </a:solidFill>
              </a:rPr>
              <a:t>If agreement within one level &lt; 80%, raise the naming threshold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A3157"/>
                </a:solidFill>
              </a:rPr>
              <a:t>Measure seconds per note, notes per week, briefs heard</a:t>
            </a:r>
            <a:endParaRPr lang="en-US" sz="1300" dirty="0"/>
          </a:p>
        </p:txBody>
      </p:sp>
      <p:sp>
        <p:nvSpPr>
          <p:cNvPr id="8" name="One block, the channel teachers use"/>
          <p:cNvSpPr/>
          <p:nvPr/>
        </p:nvSpPr>
        <p:spPr>
          <a:xfrm>
            <a:off x="4297680" y="1234440"/>
            <a:ext cx="3566160" cy="4160520"/>
          </a:xfrm>
          <a:prstGeom prst="roundRect">
            <a:avLst>
              <a:gd name="adj" fmla="val 3077"/>
            </a:avLst>
          </a:prstGeom>
          <a:solidFill>
            <a:srgbClr val="F3F4F9"/>
          </a:solidFill>
          <a:ln w="12700">
            <a:solidFill>
              <a:srgbClr val="F3F4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1463040"/>
            <a:ext cx="1325880" cy="384048"/>
          </a:xfrm>
          <a:prstGeom prst="roundRect">
            <a:avLst>
              <a:gd name="adj" fmla="val 47619"/>
            </a:avLst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463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Early 2027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0116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1833"/>
                </a:solidFill>
              </a:rPr>
              <a:t>One block, the channel teachers use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743200"/>
            <a:ext cx="3154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A3157"/>
                </a:solidFill>
              </a:rPr>
              <a:t>WhatsApp: send the note as a voice note, get the brief back as one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A3157"/>
                </a:solidFill>
              </a:rPr>
              <a:t>Block dashboard: counts of children by level per school; no names, no teacher field, no ranking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A3157"/>
                </a:solidFill>
              </a:rPr>
              <a:t>State-owned speech: Bhashini or AI4Bharat IndicConformer (one module to swap)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A3157"/>
                </a:solidFill>
              </a:rPr>
              <a:t>Seed levels from NIPUN Lakshya or school ORF results</a:t>
            </a:r>
            <a:endParaRPr lang="en-US" sz="1300" dirty="0"/>
          </a:p>
        </p:txBody>
      </p:sp>
      <p:sp>
        <p:nvSpPr>
          <p:cNvPr id="13" name="Inside state systems"/>
          <p:cNvSpPr/>
          <p:nvPr/>
        </p:nvSpPr>
        <p:spPr>
          <a:xfrm>
            <a:off x="8046720" y="1234440"/>
            <a:ext cx="3566160" cy="4160520"/>
          </a:xfrm>
          <a:prstGeom prst="roundRect">
            <a:avLst>
              <a:gd name="adj" fmla="val 3077"/>
            </a:avLst>
          </a:prstGeom>
          <a:solidFill>
            <a:srgbClr val="F3F4F9"/>
          </a:solidFill>
          <a:ln w="12700">
            <a:solidFill>
              <a:srgbClr val="F3F4F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1463040"/>
            <a:ext cx="1325880" cy="384048"/>
          </a:xfrm>
          <a:prstGeom prst="roundRect">
            <a:avLst>
              <a:gd name="adj" fmla="val 47619"/>
            </a:avLst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1463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2027–28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20116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1833"/>
                </a:solidFill>
              </a:rPr>
              <a:t>Inside state systems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743200"/>
            <a:ext cx="3154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A3157"/>
                </a:solidFill>
              </a:rPr>
              <a:t>A SUNO module inside NIPUN Lakshya or DIKSHA, not another app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A3157"/>
                </a:solidFill>
              </a:rPr>
              <a:t>More languages: Marathi, Tamil, Odia, each with its own ladder and banned-word list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A3157"/>
                </a:solidFill>
              </a:rPr>
              <a:t>The state teacher guide's activities, retrieved by skill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A3157"/>
                </a:solidFill>
              </a:rPr>
              <a:t>Coaching only with the teacher's consent</a:t>
            </a:r>
            <a:endParaRPr lang="en-US" sz="1300" dirty="0"/>
          </a:p>
        </p:txBody>
      </p:sp>
      <p:sp>
        <p:nvSpPr>
          <p:cNvPr id="18" name="Constant"/>
          <p:cNvSpPr/>
          <p:nvPr/>
        </p:nvSpPr>
        <p:spPr>
          <a:xfrm>
            <a:off x="548640" y="5532120"/>
            <a:ext cx="11064240" cy="658368"/>
          </a:xfrm>
          <a:prstGeom prst="roundRect">
            <a:avLst>
              <a:gd name="adj" fmla="val 16667"/>
            </a:avLst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55778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020"/>
                </a:solidFill>
              </a:rPr>
              <a:t>In every phase: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no child's voice recorded, no teacher score, first names only, aggregates upward, and the teacher decides.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Integration into existing systems, and who pays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828800" y="1737360"/>
            <a:ext cx="2148840" cy="1901952"/>
          </a:xfrm>
          <a:prstGeom prst="line">
            <a:avLst/>
          </a:prstGeom>
          <a:noFill/>
          <a:ln w="19050">
            <a:solidFill>
              <a:srgbClr val="C9CF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3977640" y="1737360"/>
            <a:ext cx="1783080" cy="1901952"/>
          </a:xfrm>
          <a:prstGeom prst="line">
            <a:avLst/>
          </a:prstGeom>
          <a:noFill/>
          <a:ln w="19050">
            <a:solidFill>
              <a:srgbClr val="C9CF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828800" y="3639312"/>
            <a:ext cx="2148840" cy="1847088"/>
          </a:xfrm>
          <a:prstGeom prst="line">
            <a:avLst/>
          </a:prstGeom>
          <a:noFill/>
          <a:ln w="19050">
            <a:solidFill>
              <a:srgbClr val="C9CF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77640" y="3639312"/>
            <a:ext cx="1783080" cy="1847088"/>
          </a:xfrm>
          <a:prstGeom prst="line">
            <a:avLst/>
          </a:prstGeom>
          <a:noFill/>
          <a:ln w="19050">
            <a:solidFill>
              <a:srgbClr val="C9CF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3611880"/>
            <a:ext cx="2148840" cy="27432"/>
          </a:xfrm>
          <a:prstGeom prst="line">
            <a:avLst/>
          </a:prstGeom>
          <a:noFill/>
          <a:ln w="19050">
            <a:solidFill>
              <a:srgbClr val="C9CFEE"/>
            </a:solidFill>
            <a:prstDash val="solid"/>
          </a:ln>
        </p:spPr>
      </p:sp>
      <p:sp>
        <p:nvSpPr>
          <p:cNvPr id="8" name="NIPUN Lakshya / DIKSHA"/>
          <p:cNvSpPr/>
          <p:nvPr/>
        </p:nvSpPr>
        <p:spPr>
          <a:xfrm>
            <a:off x="548640" y="1325880"/>
            <a:ext cx="2560320" cy="868680"/>
          </a:xfrm>
          <a:prstGeom prst="roundRect">
            <a:avLst>
              <a:gd name="adj" fmla="val 12632"/>
            </a:avLst>
          </a:prstGeom>
          <a:solidFill>
            <a:srgbClr val="F3F4F9"/>
          </a:solidFill>
          <a:ln w="12700">
            <a:solidFill>
              <a:srgbClr val="F3F4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417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833"/>
                </a:solidFill>
              </a:rPr>
              <a:t>NIPUN Lakshya / DIKSHA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A3157"/>
                </a:solidFill>
              </a:rPr>
              <a:t>SUNO as a module; open JSON schemas</a:t>
            </a:r>
            <a:endParaRPr lang="en-US" sz="1300" dirty="0"/>
          </a:p>
        </p:txBody>
      </p:sp>
      <p:sp>
        <p:nvSpPr>
          <p:cNvPr id="10" name="WhatsApp"/>
          <p:cNvSpPr/>
          <p:nvPr/>
        </p:nvSpPr>
        <p:spPr>
          <a:xfrm>
            <a:off x="4480560" y="1325880"/>
            <a:ext cx="2560320" cy="868680"/>
          </a:xfrm>
          <a:prstGeom prst="roundRect">
            <a:avLst>
              <a:gd name="adj" fmla="val 12632"/>
            </a:avLst>
          </a:prstGeom>
          <a:solidFill>
            <a:srgbClr val="F3F4F9"/>
          </a:solidFill>
          <a:ln w="12700">
            <a:solidFill>
              <a:srgbClr val="F3F4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7720" y="1417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833"/>
                </a:solidFill>
              </a:rPr>
              <a:t>WhatsApp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A3157"/>
                </a:solidFill>
              </a:rPr>
              <a:t>voice note in, brief out</a:t>
            </a:r>
            <a:endParaRPr lang="en-US" sz="1300" dirty="0"/>
          </a:p>
        </p:txBody>
      </p:sp>
      <p:sp>
        <p:nvSpPr>
          <p:cNvPr id="12" name="VSK / block dashboards"/>
          <p:cNvSpPr/>
          <p:nvPr/>
        </p:nvSpPr>
        <p:spPr>
          <a:xfrm>
            <a:off x="548640" y="5074920"/>
            <a:ext cx="2560320" cy="868680"/>
          </a:xfrm>
          <a:prstGeom prst="roundRect">
            <a:avLst>
              <a:gd name="adj" fmla="val 12632"/>
            </a:avLst>
          </a:prstGeom>
          <a:solidFill>
            <a:srgbClr val="F3F4F9"/>
          </a:solidFill>
          <a:ln w="12700">
            <a:solidFill>
              <a:srgbClr val="F3F4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51663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833"/>
                </a:solidFill>
              </a:rPr>
              <a:t>VSK / block dashboards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A3157"/>
                </a:solidFill>
              </a:rPr>
              <a:t>aggregate counts by level: /api/export/summary.json</a:t>
            </a:r>
            <a:endParaRPr lang="en-US" sz="1300" dirty="0"/>
          </a:p>
        </p:txBody>
      </p:sp>
      <p:sp>
        <p:nvSpPr>
          <p:cNvPr id="14" name="Bhashini / IndicConformer"/>
          <p:cNvSpPr/>
          <p:nvPr/>
        </p:nvSpPr>
        <p:spPr>
          <a:xfrm>
            <a:off x="4480560" y="5074920"/>
            <a:ext cx="2560320" cy="868680"/>
          </a:xfrm>
          <a:prstGeom prst="roundRect">
            <a:avLst>
              <a:gd name="adj" fmla="val 12632"/>
            </a:avLst>
          </a:prstGeom>
          <a:solidFill>
            <a:srgbClr val="F3F4F9"/>
          </a:solidFill>
          <a:ln w="12700">
            <a:solidFill>
              <a:srgbClr val="F3F4F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17720" y="51663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833"/>
                </a:solidFill>
              </a:rPr>
              <a:t>Bhashini / IndicConformer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A3157"/>
                </a:solidFill>
              </a:rPr>
              <a:t>state-owned speech-to-text</a:t>
            </a:r>
            <a:endParaRPr lang="en-US" sz="1300" dirty="0"/>
          </a:p>
        </p:txBody>
      </p:sp>
      <p:sp>
        <p:nvSpPr>
          <p:cNvPr id="16" name="ASER / NIPUN assessments"/>
          <p:cNvSpPr/>
          <p:nvPr/>
        </p:nvSpPr>
        <p:spPr>
          <a:xfrm>
            <a:off x="548640" y="3200400"/>
            <a:ext cx="2560320" cy="868680"/>
          </a:xfrm>
          <a:prstGeom prst="roundRect">
            <a:avLst>
              <a:gd name="adj" fmla="val 12632"/>
            </a:avLst>
          </a:prstGeom>
          <a:solidFill>
            <a:srgbClr val="F3F4F9"/>
          </a:solidFill>
          <a:ln w="12700">
            <a:solidFill>
              <a:srgbClr val="F3F4F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2918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833"/>
                </a:solidFill>
              </a:rPr>
              <a:t>ASER / NIPUN assessments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A3157"/>
                </a:solidFill>
              </a:rPr>
              <a:t>seed starting levels</a:t>
            </a:r>
            <a:endParaRPr lang="en-US" sz="1300" dirty="0"/>
          </a:p>
        </p:txBody>
      </p:sp>
      <p:sp>
        <p:nvSpPr>
          <p:cNvPr id="18" name="SUNO hub"/>
          <p:cNvSpPr/>
          <p:nvPr/>
        </p:nvSpPr>
        <p:spPr>
          <a:xfrm>
            <a:off x="3200400" y="2862072"/>
            <a:ext cx="1554480" cy="1554480"/>
          </a:xfrm>
          <a:prstGeom prst="ellipse">
            <a:avLst/>
          </a:prstGeom>
          <a:solidFill>
            <a:srgbClr val="121833"/>
          </a:solidFill>
          <a:ln w="38100">
            <a:solidFill>
              <a:srgbClr val="FFB02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200400" y="336499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020"/>
                </a:solidFill>
              </a:rPr>
              <a:t>SUNO</a:t>
            </a:r>
            <a:endParaRPr lang="en-US" sz="2200" dirty="0"/>
          </a:p>
        </p:txBody>
      </p:sp>
      <p:sp>
        <p:nvSpPr>
          <p:cNvPr id="20" name="Cost card"/>
          <p:cNvSpPr/>
          <p:nvPr/>
        </p:nvSpPr>
        <p:spPr>
          <a:xfrm>
            <a:off x="7406640" y="1325880"/>
            <a:ext cx="4206240" cy="4800600"/>
          </a:xfrm>
          <a:prstGeom prst="roundRect">
            <a:avLst>
              <a:gd name="adj" fmla="val 2609"/>
            </a:avLst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80960" y="15544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B020"/>
                </a:solidFill>
              </a:rPr>
              <a:t>≈ ₹117</a:t>
            </a:r>
            <a:endParaRPr lang="en-US" sz="4800" dirty="0"/>
          </a:p>
        </p:txBody>
      </p:sp>
      <p:sp>
        <p:nvSpPr>
          <p:cNvPr id="22" name="Text 20"/>
          <p:cNvSpPr txBox="1"/>
          <p:nvPr/>
        </p:nvSpPr>
        <p:spPr>
          <a:xfrm>
            <a:off x="7680960" y="24231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per child per year today (₹17.6 per teacher-day, from logged usage). A leaner setup (overnight batch, lower-effort brief) is estimated at about half.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0" y="3657600"/>
            <a:ext cx="37033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9CFEE"/>
                </a:solidFill>
              </a:rPr>
              <a:t>Who pays: the state, from the Samagra Shiksha FLN budget for teacher support and assessment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9CFEE"/>
                </a:solidFill>
              </a:rPr>
              <a:t>Who owns the data: the school or state; SUNO is the processor (DPDP Act 2023, Rules 2025)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9CFEE"/>
                </a:solidFill>
              </a:rPr>
              <a:t>Never: names upward, teacher scores, teacher rankings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Try SUNO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1546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B020"/>
                </a:solidFill>
              </a:rPr>
              <a:t>The teacher already hears every child. SUNO remembers.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886200"/>
            <a:ext cx="5943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</a:rPr>
              <a:t>Live app 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C9CFEE"/>
                </a:solidFill>
              </a:rPr>
              <a:t>suno-8qoh.onrender.com · code SUNO-DEMO (a fresh synthetic class per sign-in), or create your own class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</a:rPr>
              <a:t>Sample inputs 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C9CFEE"/>
                </a:solidFill>
              </a:rPr>
              <a:t>4 Hindi voice notes (sample notes on the Note tab) + a register photo and a textbook page (☰ menu)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</a:rPr>
              <a:t>Offline test 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C9CFEE"/>
                </a:solidFill>
              </a:rPr>
              <a:t>Turn the network off, record a note, turn it back on: it sends itself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</a:rPr>
              <a:t>Demo video 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C9CFEE"/>
                </a:solidFill>
              </a:rPr>
              <a:t>youtu.be/GG3v7lQ212M (3 minutes)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</a:rPr>
              <a:t>Source 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C9CFEE"/>
                </a:solidFill>
              </a:rPr>
              <a:t>README: setup, local run, .env.example, every AI service and where its key goes</a:t>
            </a:r>
            <a:endParaRPr lang="en-US" sz="1400" dirty="0"/>
          </a:p>
        </p:txBody>
      </p:sp>
      <p:sp>
        <p:nvSpPr>
          <p:cNvPr id="5" name="Today screen: morning brief frame"/>
          <p:cNvSpPr/>
          <p:nvPr/>
        </p:nvSpPr>
        <p:spPr>
          <a:xfrm>
            <a:off x="7050024" y="603504"/>
            <a:ext cx="2699777" cy="5650992"/>
          </a:xfrm>
          <a:prstGeom prst="roundRect">
            <a:avLst>
              <a:gd name="adj" fmla="val 7451"/>
            </a:avLst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6" name="Today screen: morning brief" descr="Today screen: morning brie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685800"/>
            <a:ext cx="2535185" cy="5486400"/>
          </a:xfrm>
          <a:prstGeom prst="rect">
            <a:avLst/>
          </a:prstGeom>
        </p:spPr>
      </p:pic>
      <p:sp>
        <p:nvSpPr>
          <p:cNvPr id="7" name="Class picture frame"/>
          <p:cNvSpPr/>
          <p:nvPr/>
        </p:nvSpPr>
        <p:spPr>
          <a:xfrm>
            <a:off x="9610344" y="1243584"/>
            <a:ext cx="2277246" cy="4736592"/>
          </a:xfrm>
          <a:prstGeom prst="roundRect">
            <a:avLst>
              <a:gd name="adj" fmla="val 8834"/>
            </a:avLst>
          </a:prstGeom>
          <a:solidFill>
            <a:srgbClr val="121833"/>
          </a:solidFill>
          <a:ln w="12700">
            <a:solidFill>
              <a:srgbClr val="1218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8" name="Class picture" descr="Class pictu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1325880"/>
            <a:ext cx="2112654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UNO">
  <a:themeElements>
    <a:clrScheme name="SUNO">
      <a:dk1>
        <a:srgbClr val="121833"/>
      </a:dk1>
      <a:lt1>
        <a:srgbClr val="FFFFFF"/>
      </a:lt1>
      <a:dk2>
        <a:srgbClr val="2A3157"/>
      </a:dk2>
      <a:lt2>
        <a:srgbClr val="F3F4F9"/>
      </a:lt2>
      <a:accent1>
        <a:srgbClr val="FFB020"/>
      </a:accent1>
      <a:accent2>
        <a:srgbClr val="C2185B"/>
      </a:accent2>
      <a:accent3>
        <a:srgbClr val="2BB673"/>
      </a:accent3>
      <a:accent4>
        <a:srgbClr val="E5484D"/>
      </a:accent4>
      <a:accent5>
        <a:srgbClr val="5B6CFF"/>
      </a:accent5>
      <a:accent6>
        <a:srgbClr val="8F5500"/>
      </a:accent6>
      <a:hlink>
        <a:srgbClr val="5B6CFF"/>
      </a:hlink>
      <a:folHlink>
        <a:srgbClr val="8F5500"/>
      </a:folHlink>
    </a:clrScheme>
    <a:fontScheme name="SUN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SUNO: Build-stage deck</dc:title>
  <dc:subject>PptxGenJS Presentation</dc:subject>
  <dc:creator>Team Sunvai</dc:creator>
  <cp:lastModifiedBy>Team Sunvai</cp:lastModifiedBy>
  <cp:revision>1</cp:revision>
  <dcterms:created xsi:type="dcterms:W3CDTF">2026-10-28T19:00:02Z</dcterms:created>
  <dcterms:modified xsi:type="dcterms:W3CDTF">2026-10-28T19:00:02Z</dcterms:modified>
</cp:coreProperties>
</file>